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0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146847059" r:id="rId12"/>
    <p:sldId id="2146847060" r:id="rId13"/>
    <p:sldId id="2146847061" r:id="rId14"/>
    <p:sldId id="268" r:id="rId15"/>
    <p:sldId id="2146847055" r:id="rId16"/>
    <p:sldId id="269" r:id="rId17"/>
    <p:sldId id="2146847058" r:id="rId18"/>
    <p:sldId id="2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505" autoAdjust="0"/>
  </p:normalViewPr>
  <p:slideViewPr>
    <p:cSldViewPr snapToGrid="0">
      <p:cViewPr varScale="1">
        <p:scale>
          <a:sx n="60" d="100"/>
          <a:sy n="60" d="100"/>
        </p:scale>
        <p:origin x="78" y="11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380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2/27/2026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2/27/2026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2/27/2026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console.groq.com/doc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7aniasiqnmkdvcc4gd5z4.streamlit.app/" TargetMode="External"/><Relationship Id="rId2" Type="http://schemas.openxmlformats.org/officeDocument/2006/relationships/hyperlink" Target="https://github.com/VR-95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Apex resume &amp; portfolio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IBM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2196" y="4058588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Vedant Vinod Rakshe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B.K. Birla College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Sy. BSc. Data Science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DB8B-890D-009D-46D5-819E5E0F32FA}"/>
              </a:ext>
            </a:extLst>
          </p:cNvPr>
          <p:cNvSpPr txBox="1">
            <a:spLocks/>
          </p:cNvSpPr>
          <p:nvPr/>
        </p:nvSpPr>
        <p:spPr>
          <a:xfrm>
            <a:off x="838200" y="1618938"/>
            <a:ext cx="11019020" cy="52390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B3D2506-47C0-175A-CDD7-2BA1E9922D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307858"/>
            <a:ext cx="11276028" cy="3931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</a:rPr>
              <a:t>AI Resume &amp; Portfolio Builder </a:t>
            </a:r>
            <a:endParaRPr lang="en-IN" sz="32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800" dirty="0"/>
              <a:t>Many students struggle to present their skills and projects in an attractive, professional format. Generic resume </a:t>
            </a:r>
          </a:p>
          <a:p>
            <a:pPr marL="0" indent="0">
              <a:buNone/>
            </a:pPr>
            <a:r>
              <a:rPr lang="en-US" sz="2800" dirty="0"/>
              <a:t>      templates don’t highlight individual strengths. A generative AI solution is needed that can automatically generate</a:t>
            </a:r>
          </a:p>
          <a:p>
            <a:pPr marL="0" indent="0">
              <a:buNone/>
            </a:pPr>
            <a:r>
              <a:rPr lang="en-US" sz="2800" dirty="0"/>
              <a:t>      tailored resumes, cover letters, and portfolios based on student data, improving job and internship opportunities. </a:t>
            </a:r>
            <a:endParaRPr lang="en-US" altLang="en-US" sz="2800" b="1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4A612D1-0190-56BB-EBD0-685E2CA21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980" y="1396213"/>
            <a:ext cx="11354136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Apex Suite: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unified, AI-powered web application hub offering two dedicated generation tracks.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A (Resume Builder):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multi-step guided wizard that takes rough, informal user notes and transforms them into a professional, executive-style PDF resume.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B (Portfolio Builder):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dedicated pipeline that converts brief project descriptions and "about me" notes into a structured, 6-slide PowerPoint 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.pptx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presentation.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Benefit: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Automates the drafting and formatting process entirely, allowing users to focus on content rather than document design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0B4169-095C-DF2D-67D4-C01328DD59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406313"/>
            <a:ext cx="1133826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&amp; User Interface: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(enables rapid development of interactive web apps with built-in session state management for the multi-step wizard).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Engine (The Brain):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Groq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utilizing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llama-3.3-70b-versatile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model for ultra-fast, high-quality text generation and formatting.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Generation: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fpdf2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For dynamic, programmatic construction of PDF resumes.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python-pptx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For native assembly and exporting of PowerPoint slides.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 &amp; Security: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python-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dotenv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local API key management and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Streamlit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Secrets for cloud security.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C5253-F6D5-0FFD-36F5-DAEA4B5F4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32452"/>
            <a:ext cx="11029616" cy="5098774"/>
          </a:xfrm>
        </p:spPr>
        <p:txBody>
          <a:bodyPr>
            <a:normAutofit fontScale="25000" lnSpcReduction="20000"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9600" b="1" dirty="0">
                <a:solidFill>
                  <a:schemeClr val="accent1"/>
                </a:solidFill>
                <a:latin typeface="Arial" panose="020B0604020202020204" pitchFamily="34" charset="0"/>
              </a:rPr>
              <a:t>Algorithm &amp; Logic: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9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9600" b="1" dirty="0">
                <a:solidFill>
                  <a:schemeClr val="tx1"/>
                </a:solidFill>
                <a:latin typeface="Arial" panose="020B0604020202020204" pitchFamily="34" charset="0"/>
              </a:rPr>
              <a:t>Mega-Prompting Architecture:</a:t>
            </a:r>
            <a:r>
              <a:rPr lang="en-US" altLang="en-US" sz="9600" dirty="0">
                <a:solidFill>
                  <a:schemeClr val="tx1"/>
                </a:solidFill>
                <a:latin typeface="Arial" panose="020B0604020202020204" pitchFamily="34" charset="0"/>
              </a:rPr>
              <a:t> Instead of making multiple API calls for different resume sections, all user inputs are bundled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9600" dirty="0">
                <a:solidFill>
                  <a:schemeClr val="tx1"/>
                </a:solidFill>
                <a:latin typeface="Arial" panose="020B0604020202020204" pitchFamily="34" charset="0"/>
              </a:rPr>
              <a:t> into a single, comprehensive prompt. This drastically reduces API rate-limiting (429 errors) and speeds up generation.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9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9600" b="1" dirty="0">
                <a:solidFill>
                  <a:schemeClr val="tx1"/>
                </a:solidFill>
                <a:latin typeface="Arial" panose="020B0604020202020204" pitchFamily="34" charset="0"/>
              </a:rPr>
              <a:t>Native JSON Forcing:</a:t>
            </a:r>
            <a:r>
              <a:rPr lang="en-US" altLang="en-US" sz="9600" dirty="0">
                <a:solidFill>
                  <a:schemeClr val="tx1"/>
                </a:solidFill>
                <a:latin typeface="Arial" panose="020B0604020202020204" pitchFamily="34" charset="0"/>
              </a:rPr>
              <a:t> The system strictly commands the LLM to output machine-readable JSON formats 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9600" dirty="0">
                <a:solidFill>
                  <a:schemeClr val="tx1"/>
                </a:solidFill>
                <a:latin typeface="Arial Unicode MS"/>
              </a:rPr>
              <a:t>{"type": "</a:t>
            </a:r>
            <a:r>
              <a:rPr lang="en-US" altLang="en-US" sz="9600" dirty="0" err="1">
                <a:solidFill>
                  <a:schemeClr val="tx1"/>
                </a:solidFill>
                <a:latin typeface="Arial Unicode MS"/>
              </a:rPr>
              <a:t>json_object</a:t>
            </a:r>
            <a:r>
              <a:rPr lang="en-US" altLang="en-US" sz="9600" dirty="0">
                <a:solidFill>
                  <a:schemeClr val="tx1"/>
                </a:solidFill>
                <a:latin typeface="Arial Unicode MS"/>
              </a:rPr>
              <a:t>"}</a:t>
            </a:r>
            <a:r>
              <a:rPr lang="en-US" altLang="en-US" sz="9600" dirty="0">
                <a:solidFill>
                  <a:schemeClr val="tx1"/>
                </a:solidFill>
              </a:rPr>
              <a:t>. This prevents formatting crashes and allows the Python backend to reliably map the AI's text to the PDF/PPTX templates.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9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9600" b="1" dirty="0">
                <a:solidFill>
                  <a:schemeClr val="tx1"/>
                </a:solidFill>
                <a:latin typeface="Arial" panose="020B0604020202020204" pitchFamily="34" charset="0"/>
              </a:rPr>
              <a:t>Deployment:</a:t>
            </a:r>
            <a:endParaRPr lang="en-US" altLang="en-US" sz="9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9600" dirty="0">
                <a:solidFill>
                  <a:schemeClr val="tx1"/>
                </a:solidFill>
                <a:latin typeface="Arial" panose="020B0604020202020204" pitchFamily="34" charset="0"/>
              </a:rPr>
              <a:t>Hosted on </a:t>
            </a:r>
            <a:r>
              <a:rPr lang="en-US" altLang="en-US" sz="9600" b="1" dirty="0" err="1">
                <a:solidFill>
                  <a:schemeClr val="tx1"/>
                </a:solidFill>
                <a:latin typeface="Arial" panose="020B0604020202020204" pitchFamily="34" charset="0"/>
              </a:rPr>
              <a:t>Streamlit</a:t>
            </a:r>
            <a:r>
              <a:rPr lang="en-US" altLang="en-US" sz="9600" b="1" dirty="0">
                <a:solidFill>
                  <a:schemeClr val="tx1"/>
                </a:solidFill>
                <a:latin typeface="Arial" panose="020B0604020202020204" pitchFamily="34" charset="0"/>
              </a:rPr>
              <a:t> Community Cloud</a:t>
            </a:r>
            <a:r>
              <a:rPr lang="en-US" altLang="en-US" sz="9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9600" dirty="0">
                <a:solidFill>
                  <a:schemeClr val="tx1"/>
                </a:solidFill>
                <a:latin typeface="Arial" panose="020B0604020202020204" pitchFamily="34" charset="0"/>
              </a:rPr>
              <a:t>Continuous integration via </a:t>
            </a:r>
            <a:r>
              <a:rPr lang="en-US" altLang="en-US" sz="9600" b="1" dirty="0">
                <a:solidFill>
                  <a:schemeClr val="tx1"/>
                </a:solidFill>
                <a:latin typeface="Arial" panose="020B0604020202020204" pitchFamily="34" charset="0"/>
              </a:rPr>
              <a:t>GitHub</a:t>
            </a:r>
            <a:r>
              <a:rPr lang="en-US" altLang="en-US" sz="9600" dirty="0">
                <a:solidFill>
                  <a:schemeClr val="tx1"/>
                </a:solidFill>
                <a:latin typeface="Arial" panose="020B0604020202020204" pitchFamily="34" charset="0"/>
              </a:rPr>
              <a:t> using a strictly defined </a:t>
            </a:r>
            <a:r>
              <a:rPr lang="en-US" altLang="en-US" sz="9600" dirty="0">
                <a:solidFill>
                  <a:schemeClr val="tx1"/>
                </a:solidFill>
                <a:latin typeface="Arial Unicode MS"/>
              </a:rPr>
              <a:t>requirements.txt</a:t>
            </a:r>
            <a:r>
              <a:rPr lang="en-US" altLang="en-US" sz="9600" dirty="0">
                <a:solidFill>
                  <a:schemeClr val="tx1"/>
                </a:solidFill>
              </a:rPr>
              <a:t> to manage dependencies.</a:t>
            </a:r>
            <a:endParaRPr lang="en-US" altLang="en-US" sz="9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384" y="8786153"/>
            <a:ext cx="1114558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B859E3-6ECE-70BC-FCAB-7E6828400B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720840"/>
            <a:ext cx="941303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fully functional, live web application accessible from any browser.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successfully input messy, lowercase notes and, within seconds, download a perfectly formatted PDF resume or a structured PPTX portfolio.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successfully handles the AI payload in a single, rapid request, avoiding the typical freezing or crashing associated with heavy API reliance.</a:t>
            </a: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74453-CF97-22F0-8F5B-8E857BCF5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Project Images</a:t>
            </a:r>
            <a:endParaRPr lang="en-IN" dirty="0">
              <a:solidFill>
                <a:schemeClr val="accent1"/>
              </a:solidFill>
            </a:endParaRPr>
          </a:p>
        </p:txBody>
      </p:sp>
      <p:pic>
        <p:nvPicPr>
          <p:cNvPr id="31" name="Content Placeholder 30">
            <a:extLst>
              <a:ext uri="{FF2B5EF4-FFF2-40B4-BE49-F238E27FC236}">
                <a16:creationId xmlns:a16="http://schemas.microsoft.com/office/drawing/2014/main" id="{8C990EB6-1546-0644-4995-33288CD414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376779"/>
            <a:ext cx="9124282" cy="5096651"/>
          </a:xfrm>
        </p:spPr>
      </p:pic>
    </p:spTree>
    <p:extLst>
      <p:ext uri="{BB962C8B-B14F-4D97-AF65-F5344CB8AC3E}">
        <p14:creationId xmlns:p14="http://schemas.microsoft.com/office/powerpoint/2010/main" val="2023969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3A741-45F0-7D7A-B676-907130D0D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Project images</a:t>
            </a:r>
            <a:endParaRPr lang="en-IN" dirty="0">
              <a:solidFill>
                <a:schemeClr val="accent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1A2693-F987-8B54-9854-870B531CB1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0232" y="1232452"/>
            <a:ext cx="9545052" cy="5200432"/>
          </a:xfrm>
        </p:spPr>
      </p:pic>
    </p:spTree>
    <p:extLst>
      <p:ext uri="{BB962C8B-B14F-4D97-AF65-F5344CB8AC3E}">
        <p14:creationId xmlns:p14="http://schemas.microsoft.com/office/powerpoint/2010/main" val="1794565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1C27A-8FF8-60B9-7B40-637529783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Project images</a:t>
            </a:r>
            <a:endParaRPr lang="en-IN" dirty="0">
              <a:solidFill>
                <a:schemeClr val="accent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63924C-9922-F2C0-4C31-6F5946D2FE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8779" y="1301750"/>
            <a:ext cx="9742865" cy="5115092"/>
          </a:xfrm>
        </p:spPr>
      </p:pic>
    </p:spTree>
    <p:extLst>
      <p:ext uri="{BB962C8B-B14F-4D97-AF65-F5344CB8AC3E}">
        <p14:creationId xmlns:p14="http://schemas.microsoft.com/office/powerpoint/2010/main" val="573098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C7BC19A-6D16-C9F7-622E-CB5069FB8A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551355"/>
            <a:ext cx="1120975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Apex Suite successfully bridges the gap between raw candidate experience and professional presentation.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leveraging high-speed LLMs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Groq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robust document-generation libraries, the system eliminates the most tedious, repetitive parts of job application prep. It proves that complex formatting and professional copywriting can be effectively automated into a seamless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C7E338-C40D-DA97-AD11-DE4A93D27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70" y="1663713"/>
            <a:ext cx="1117506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"Bring Your Own Key" (BYOK) Integration: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Adding an input field for users to provide their own API keys, preventing the central developer key from being exhausted as user traffic scales.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Theming: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Implementing customizable color palettes, fonts, and layout options for the PDF and PPTX exports.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Job Matching: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feature allowing users to paste a specific Job Description (JD), prompting the AI to automatically tailor the generated bullet points to highlight matching skills.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9C82B0-CBA2-0FD2-0400-979E31AC4978}"/>
              </a:ext>
            </a:extLst>
          </p:cNvPr>
          <p:cNvSpPr txBox="1"/>
          <p:nvPr/>
        </p:nvSpPr>
        <p:spPr>
          <a:xfrm>
            <a:off x="668866" y="142156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err="1">
                <a:solidFill>
                  <a:srgbClr val="92D050"/>
                </a:solidFill>
              </a:rPr>
              <a:t>Streamlit</a:t>
            </a:r>
            <a:r>
              <a:rPr lang="en-IN" sz="2400" dirty="0">
                <a:solidFill>
                  <a:srgbClr val="92D050"/>
                </a:solidFill>
              </a:rPr>
              <a:t> Documentation (docs.streamlit.io)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8E3FB-22A7-E0B8-4581-182B6AF5A531}"/>
              </a:ext>
            </a:extLst>
          </p:cNvPr>
          <p:cNvSpPr txBox="1"/>
          <p:nvPr/>
        </p:nvSpPr>
        <p:spPr>
          <a:xfrm>
            <a:off x="668866" y="2055948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err="1">
                <a:solidFill>
                  <a:srgbClr val="92D050"/>
                </a:solidFill>
              </a:rPr>
              <a:t>Groq</a:t>
            </a:r>
            <a:r>
              <a:rPr lang="en-IN" sz="2400" dirty="0">
                <a:solidFill>
                  <a:srgbClr val="92D050"/>
                </a:solidFill>
              </a:rPr>
              <a:t> API &amp; Llama 3 Series Documentation </a:t>
            </a:r>
            <a:r>
              <a:rPr lang="en-IN" sz="2400" dirty="0"/>
              <a:t>(</a:t>
            </a:r>
            <a:r>
              <a:rPr lang="en-IN" sz="2400" dirty="0">
                <a:hlinkClick r:id="rId2"/>
              </a:rPr>
              <a:t>console.groq.com/docs</a:t>
            </a:r>
            <a:r>
              <a:rPr lang="en-IN" sz="240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ED30D-1BDE-D15E-24BF-CDF91FB17E3B}"/>
              </a:ext>
            </a:extLst>
          </p:cNvPr>
          <p:cNvSpPr txBox="1"/>
          <p:nvPr/>
        </p:nvSpPr>
        <p:spPr>
          <a:xfrm>
            <a:off x="668866" y="305966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92D050"/>
                </a:solidFill>
              </a:rPr>
              <a:t>fpdf2 Python Library Documentation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239F6C-608D-FFC0-AE73-B5FE2296234F}"/>
              </a:ext>
            </a:extLst>
          </p:cNvPr>
          <p:cNvSpPr txBox="1"/>
          <p:nvPr/>
        </p:nvSpPr>
        <p:spPr>
          <a:xfrm>
            <a:off x="668866" y="369405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92D050"/>
                </a:solidFill>
              </a:rPr>
              <a:t>python-pptx Library Documentation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GitHub Link : </a:t>
            </a:r>
            <a:r>
              <a:rPr lang="en-IN" sz="2800" dirty="0">
                <a:hlinkClick r:id="rId2"/>
              </a:rPr>
              <a:t>https://github.com/VR-95</a:t>
            </a:r>
            <a:endParaRPr lang="en-IN" sz="2800" dirty="0"/>
          </a:p>
          <a:p>
            <a:r>
              <a:rPr lang="en-IN" sz="2800" dirty="0"/>
              <a:t>Deployment Link: </a:t>
            </a:r>
            <a:r>
              <a:rPr lang="en-IN" sz="2800" dirty="0">
                <a:solidFill>
                  <a:srgbClr val="92D050"/>
                </a:solidFill>
                <a:hlinkClick r:id="rId3"/>
              </a:rPr>
              <a:t>https://d7aniasiqnmkdvcc4gd5z4.streamlit.app/</a:t>
            </a:r>
            <a:endParaRPr lang="en-IN" sz="28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1085</TotalTime>
  <Words>700</Words>
  <Application>Microsoft Office PowerPoint</Application>
  <PresentationFormat>Widescreen</PresentationFormat>
  <Paragraphs>75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Unicode MS</vt:lpstr>
      <vt:lpstr>Calibri</vt:lpstr>
      <vt:lpstr>Calibri Light</vt:lpstr>
      <vt:lpstr>Franklin Gothic Book</vt:lpstr>
      <vt:lpstr>Franklin Gothic Demi</vt:lpstr>
      <vt:lpstr>Wingdings 2</vt:lpstr>
      <vt:lpstr>DividendVTI</vt:lpstr>
      <vt:lpstr>Apex resume &amp; portfolio builder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Project Images</vt:lpstr>
      <vt:lpstr>Project images</vt:lpstr>
      <vt:lpstr>Project images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Vedant Rakshe</cp:lastModifiedBy>
  <cp:revision>38</cp:revision>
  <dcterms:created xsi:type="dcterms:W3CDTF">2021-05-26T16:50:10Z</dcterms:created>
  <dcterms:modified xsi:type="dcterms:W3CDTF">2026-02-27T09:47:55Z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